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3F2F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3F2F8"/>
                </a:solidFill>
                <a:latin typeface="Arial"/>
              </a:rPr>
              <a:t>≈ $30 / month  ·  ≈ $360 / year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bubble3D val="0"/>
            <c:spPr>
              <a:solidFill>
                <a:srgbClr val="F4B740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61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61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61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6151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App Service</c:v>
                </c:pt>
                <c:pt idx="1">
                  <c:v>Private endpoint</c:v>
                </c:pt>
                <c:pt idx="2">
                  <c:v>Azure SQL</c:v>
                </c:pt>
                <c:pt idx="3">
                  <c:v>Networking &amp; 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13.14</c:v>
                </c:pt>
                <c:pt idx="1">
                  <c:v>7.3</c:v>
                </c:pt>
                <c:pt idx="2">
                  <c:v>11.5</c:v>
                </c:pt>
                <c:pt idx="3">
                  <c:v>1</c:v>
                </c:pt>
              </c:numCache>
            </c:numRef>
          </c:val>
        </c:ser>
        <c:firstSliceAng val="0"/>
        <c:holeSize val="58"/>
      </c:doughnutChart>
      <c:spPr>
        <a:solidFill>
          <a:srgbClr val="16151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3F2F8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6151D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 — we're team GKDM: Gayathri, Kamalika, Dimple and Maharsh. Our project is a cloud-based healthcare appointment system, built and deployed LIVE on Microsoft Azure. One line: patients sign in with their Microsoft account, book and cancel appointments, and it runs securely on Azure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is fully built, deployed and live. All four phases are done — compute, database, security, and deployment with monitoring. Both our functional goals (booking, roles, a live API) and non-functional goals (secure, low-cost, maintainable)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Front end: React with Vite. Back end: Node + Express as a REST API. Sign-in uses Microsoft's MSAL library; the API talks to Azure SQL with the mssql driver; tokens are validated with jsonwebtoken. Everything is over HTTPS and monitored by Application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seven Azure services we used. App Service hosts the app; Azure SQL stores the data; Entra ID handles login; Key Vault holds secrets; the VNet and NSGs give us a private, firewalled network; the private endpoint gives a private path to the database; and Application Insights monitors everything. The theme: managed services, so a small team can build something real without managing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diagram: a patient signs in through Entra ID and gets a token. Their browser calls our App Service over HTTPS on port 443. The App Service reaches the database through a private endpoint on port 1433 — all inside our virtual network, split into a web subnet (10.0.1.0/24) and a data subnet (10.0.2.0/24). The database has NO public access. Secrets come from Key Vault using a managed identity. If asked how the app finds the private database: a private DNS zone resolves the name to its private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built it in six steps: set up the resource group and region; build the private network with two subnets and firewall rules; create the serverless SQL database and its tables; deploy the App Service with a managed identity and connect it to the network; lock down security with the private endpoint, Key Vault and Entra ID; and finally deploy the app and wire up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in five layers. Network: no public database access — only a private endpoint; firewall allows 443 in and 1433 only from the web subnet. Transport: everything over HTTPS/TLS. Access: Microsoft login with Patient/Provider/Admin roles. Identity: a managed identity, so no passwords in code. Data at rest: the database is encrypted with TDE; secrets live in Key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we'll show it running live. (Reminder: you signed in ~15 min ago to wake the database.) We'll open the site, sign in, book and cancel an appointment, then switch to the Azure Portal to prove it's real and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evidence: the live site with the HTTPS padlock; the database with public access Disabled; our NSG firewall rules; the app signed in showing real data from Azure SQL; the Key Vault role assignment; and the App Service's managed identity switched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problems we solved: the serverless database pausing caused a slow first request — we raised the timeout and pre-warm before demos; the browser's security policy blocked Microsoft login — fixed by allowing the Entra endpoints; a build error — fixed by changing how the app starts up; and reaching the private database while building was fiddly — we used a temporary dev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We're transparent about AI. We used it for front-end scaffolding, boilerplate, troubleshooting, and assembling this deck. We did NOT use it for the architecture diagram — that's hand-drawn, as the course requires — or for the Azure configuration, which we performed ourselves in the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Running cost is about $30 a month, estimated with the Azure Pricing Calculator. The main costs are the App Service and the private endpoint; the serverless database is nearly free when idle. Actual spend is visible in Cost Management, Cost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Dimple — front end &amp; compute: 'I built the React app and the Express API, deployed it to Azure App Service, and set up the managed identity so the app reaches the database with no password.'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Gayathri — database: 'I designed the Azure SQL schema — patients, providers, appointments and time slots — and configured the private endpoint so the database is only reachable from inside our network.'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Kamalika — networking: 'I built the virtual network and the two subnets, and wrote the NSG firewall rules — 443 in for the web app and 1433 only from the web subnet. I also connected the App Service into the network.'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Maharsh — security &amp; identity: 'I set up Microsoft Entra ID login and the Patient/Provider/Admin roles, added Key Vault and Application Insights, and worked out the running cost.'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summary: a complete, secure, live multi-tier Azure deployment — private database, passwordless identity, Microsoft login, encrypted throughout. Tradeoffs: a single instance and a serverless database to stay simple and cheap. Next time: infrastructure-as-code with Terraform, a CI/CD pipeline, and autoscaling behind Front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— we're happy to take questions. Keep the architecture answers ready: why two subnets, where the data is stored, why Azure over AWS, how it's passwordless, and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5669280" cy="566928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50292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  /   FINAL PROJECT   /   MSc DATA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Healthcare Appointment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134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on Microsoft Azure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secure, multi-tier cloud deployment — managed compute, a private database, passwordless identity, and network isolation.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367028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23360"/>
            <a:ext cx="13670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71700" y="4023360"/>
            <a:ext cx="1175004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1700" y="4023360"/>
            <a:ext cx="11750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11296" y="402336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402336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4023360"/>
            <a:ext cx="1175004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023360"/>
            <a:ext cx="11750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4023360"/>
            <a:ext cx="694944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476" y="4023360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54012" y="4023360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54012" y="402336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342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pPr indent="0" marL="0">
              <a:buNone/>
            </a:pPr>
            <a:r>
              <a:rPr lang="en-US" sz="1200" dirty="0">
                <a:solidFill>
                  <a:srgbClr val="C9C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Dimple Vincia Selet Rajendrakumar Roopa  ·  Gayathri Narayanan  ·  Kamalika Bharathi Kannan Umamaheshwari  ·  Maharsh Ashish Shah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Europe for Applied Sciences   ·   Prof. Aaron Crandall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 </a:t>
            </a:r>
            <a:pPr indent="0" marL="0">
              <a:buNone/>
            </a:pPr>
            <a:r>
              <a:rPr lang="en-US" sz="1200" dirty="0">
                <a:solidFill>
                  <a:srgbClr val="C9C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https://app-healthappt-gn-axhhfvhbdxerbphw.westeurope-01.azurewebsites.net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Completion Status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98448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built, deployed, and running live on Azure.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706624" cy="1280160"/>
          </a:xfrm>
          <a:prstGeom prst="roundRect">
            <a:avLst>
              <a:gd name="adj" fmla="val 42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17373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 on Azure App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9856" y="1600200"/>
            <a:ext cx="2706624" cy="1280160"/>
          </a:xfrm>
          <a:prstGeom prst="roundRect">
            <a:avLst>
              <a:gd name="adj" fmla="val 42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02736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17373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02736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02736" y="23591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Azure SQL (serverless)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91072" y="1600200"/>
            <a:ext cx="2706624" cy="1280160"/>
          </a:xfrm>
          <a:prstGeom prst="roundRect">
            <a:avLst>
              <a:gd name="adj" fmla="val 42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7373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23591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login, private endpoint, NSGs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62288" y="1600200"/>
            <a:ext cx="2706624" cy="1280160"/>
          </a:xfrm>
          <a:prstGeom prst="roundRect">
            <a:avLst>
              <a:gd name="adj" fmla="val 42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4516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17373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45168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monitor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45168" y="23591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 + Application 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 met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sign in and book, reschedule, or cancel appointments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view their schedule; role-based access (Patient / Provider / Admin)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REST API reading and writing a managed cloud 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 met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45352" y="35661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Secure: Entra ID auth, private database, managed identity, TLS + TDE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Low-cost: serverless database auto-pauses when idle (~$25–40 / month)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Maintainable: documented, repeatable provisioning and deployment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1755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860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5603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front 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88536" y="1572768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17556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88536" y="22860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88536" y="25603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server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8432" y="1572768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4" y="17556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28432" y="228600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MSAL (msal-react)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28432" y="256032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sign-in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692" y="3291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mssql driver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40965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Azure SQL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288536" y="310896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32918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88536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jsonwebtoken + jwks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288536" y="40965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Entra tokens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028432" y="310896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329184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28432" y="382219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028432" y="409651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in transit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4645152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7692" y="4828032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8640" y="535838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Insights SDK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48640" y="563270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&amp; logging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288536" y="4645152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588" y="4828032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288536" y="535838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4288536" y="563270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028432" y="4645152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7484" y="4828032"/>
            <a:ext cx="457200" cy="4572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028432" y="535838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Azure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8028432" y="563270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</a:t>
            </a:r>
            <a:endParaRPr lang="en-US" sz="1000" dirty="0"/>
          </a:p>
        </p:txBody>
      </p:sp>
      <p:sp>
        <p:nvSpPr>
          <p:cNvPr id="43" name="Text 32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Used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5623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1700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 Service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36192" y="1993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Node host serving the React app + Express API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19088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56232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87184" y="1700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Database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187184" y="1993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Managed, serverless database in a private subnet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68096" y="2926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99232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36192" y="2843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36192" y="3136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sign-in (OAuth2 / OIDC) and app roles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99632" y="2697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2926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999232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87184" y="2843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187184" y="3136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storage, read via the app's managed identity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840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4069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142232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36192" y="3986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 + NSGs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536192" y="4279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network with subnet firewall rules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199632" y="3840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419088" y="4069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142232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87184" y="3986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7187184" y="4279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Private-only network path to the database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49834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68096" y="5212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285232"/>
            <a:ext cx="420624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536192" y="51297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Insights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536192" y="54223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 and request tracing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Solution Architectural Drawing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98448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Hand-drawn, as the course requires — our architecture and secure request flow.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18</a:t>
            </a:r>
            <a:endParaRPr lang="en-US" sz="1000" dirty="0"/>
          </a:p>
        </p:txBody>
      </p:sp>
      <p:pic>
        <p:nvPicPr>
          <p:cNvPr id="13" name="Picture 12" descr="updated GK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774" y="1481328"/>
            <a:ext cx="453414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Process — Start to 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77393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5024" y="181965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33172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group, region West Europe, sign in to Azure.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88536" y="1554480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77393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81965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VNet with snet-web / snet-data subnets and NSGs.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8432" y="1554480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47888" y="177393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14816" y="181965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66176" y="233172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serverless; create schema and seed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36976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45643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5024" y="35021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" y="401421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 (Node), managed identity, VNet integration.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88536" y="3236976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07992" y="34564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4507992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74920" y="35021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26280" y="401421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endpoint, disable public DB access, Key Vault, Entra ID app registrations + roles.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8432" y="3236976"/>
            <a:ext cx="3575304" cy="1481328"/>
          </a:xfrm>
          <a:prstGeom prst="roundRect">
            <a:avLst>
              <a:gd name="adj" fmla="val 3704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47888" y="345643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14816" y="350215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66176" y="401421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React → bundle into the API → deploy via VS Code; wire Application Insights.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How We Secured 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91672" cy="886968"/>
          </a:xfrm>
          <a:prstGeom prst="roundRect">
            <a:avLst>
              <a:gd name="adj" fmla="val 61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7145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8765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1700784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36192" y="1993392"/>
            <a:ext cx="9902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has no public access — reached only through a private endpoint inside the VNet. NSGs allow 443 inbound and restrict 1433 to the web subnet only.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32888"/>
            <a:ext cx="11091672" cy="886968"/>
          </a:xfrm>
          <a:prstGeom prst="roundRect">
            <a:avLst>
              <a:gd name="adj" fmla="val 61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8096" y="26929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76606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6192" y="26791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36192" y="2971800"/>
            <a:ext cx="9902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traffic is over HTTPS / TLS using the App Service managed certificate.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511296"/>
            <a:ext cx="11091672" cy="886968"/>
          </a:xfrm>
          <a:prstGeom prst="roundRect">
            <a:avLst>
              <a:gd name="adj" fmla="val 61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68096" y="367131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444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36192" y="3657600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36192" y="3950208"/>
            <a:ext cx="9902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sign-in (OAuth2 / OIDC) with role-based access (Patient / Provider / Admin); tokens validated on every API request.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489704"/>
            <a:ext cx="11091672" cy="886968"/>
          </a:xfrm>
          <a:prstGeom prst="roundRect">
            <a:avLst>
              <a:gd name="adj" fmla="val 61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8096" y="46497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22876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36192" y="463600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536192" y="4928616"/>
            <a:ext cx="9902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reaches the database and Key Vault using a managed identity — no passwords stored in code or configuration.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5468112"/>
            <a:ext cx="11091672" cy="886968"/>
          </a:xfrm>
          <a:prstGeom prst="roundRect">
            <a:avLst>
              <a:gd name="adj" fmla="val 618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56281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A2838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701284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36192" y="5614416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 rest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536192" y="5907024"/>
            <a:ext cx="9902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is encrypted with Transparent Data Encryption (TDE); secrets are held in Key Vault.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of Running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98448" y="1097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 </a:t>
            </a:r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https://app-healthappt-gn-axhhfvhbdxerbphw.westeurope-01.azurewebsites.net</a:t>
            </a:r>
            <a:pPr indent="0" marL="0">
              <a:buNone/>
            </a:pPr>
            <a:r>
              <a:rPr lang="en-US" sz="12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we walk the Azure Portal to show what is running.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show (live)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website over HTTPS (green padlock)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Microsoft Entra ID (role shown)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and cancel an appointment (data from Azure SQL)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 running (Linux, Node, Always On)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— private endpoint, public access: No, encrypted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+ NSG rules: subnets, IPs and ports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+ managed identity (keyless access)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45352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— key facts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199339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122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  app-healthappt-gn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2404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· Node 22 · Always On · managed identity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95351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 healthappt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serverless · private endpoint · public access: No · TDE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45352" y="391363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 healthappt-vnet  10.0.0.0/16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snet-web 10.0.1.0/24 · snet-data 10.0.2.0/24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45352" y="487375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992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(NSGs)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5285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nsg-web: 443 in · nsg-data: 1433 ← web subnet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Portal Screenshots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41985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padlock — live site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1554480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88536" y="341985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SQL: public access No + TDE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28432" y="341985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NSG rules: nsg-web &amp; nsg-data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559612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signed in — data from Azure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88536" y="3730752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dash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88536" y="559612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+ role assignment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28432" y="3730752"/>
            <a:ext cx="3575304" cy="1828800"/>
          </a:xfrm>
          <a:prstGeom prst="roundRect">
            <a:avLst>
              <a:gd name="adj" fmla="val 3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28432" y="559612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 on the App Service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18</a:t>
            </a:r>
            <a:endParaRPr lang="en-US" sz="1000" dirty="0"/>
          </a:p>
        </p:txBody>
      </p:sp>
      <p:pic>
        <p:nvPicPr>
          <p:cNvPr id="26" name="Picture 25" descr="1. HTTPS link 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26" y="1618488"/>
            <a:ext cx="2579131" cy="1700784"/>
          </a:xfrm>
          <a:prstGeom prst="rect">
            <a:avLst/>
          </a:prstGeom>
        </p:spPr>
      </p:pic>
      <p:pic>
        <p:nvPicPr>
          <p:cNvPr id="27" name="Picture 26" descr="2. SQL public 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335" y="1618488"/>
            <a:ext cx="2897705" cy="1700784"/>
          </a:xfrm>
          <a:prstGeom prst="rect">
            <a:avLst/>
          </a:prstGeom>
        </p:spPr>
      </p:pic>
      <p:pic>
        <p:nvPicPr>
          <p:cNvPr id="28" name="Picture 27" descr="3.1 NSG rules 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946082"/>
            <a:ext cx="1705356" cy="1045594"/>
          </a:xfrm>
          <a:prstGeom prst="rect">
            <a:avLst/>
          </a:prstGeom>
        </p:spPr>
      </p:pic>
      <p:pic>
        <p:nvPicPr>
          <p:cNvPr id="29" name="Picture 28" descr="3.2 NSG rules w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1940326"/>
            <a:ext cx="1705356" cy="1057107"/>
          </a:xfrm>
          <a:prstGeom prst="rect">
            <a:avLst/>
          </a:prstGeom>
        </p:spPr>
      </p:pic>
      <p:pic>
        <p:nvPicPr>
          <p:cNvPr id="30" name="Picture 29" descr="4. Signing In 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368" y="3794760"/>
            <a:ext cx="2737847" cy="1700784"/>
          </a:xfrm>
          <a:prstGeom prst="rect">
            <a:avLst/>
          </a:prstGeom>
        </p:spPr>
      </p:pic>
      <p:pic>
        <p:nvPicPr>
          <p:cNvPr id="31" name="Picture 30" descr="5. Key vault 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4857" y="3794760"/>
            <a:ext cx="2682660" cy="1700784"/>
          </a:xfrm>
          <a:prstGeom prst="rect">
            <a:avLst/>
          </a:prstGeom>
        </p:spPr>
      </p:pic>
      <p:pic>
        <p:nvPicPr>
          <p:cNvPr id="32" name="Picture 31" descr="6. Identity on App Service 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9147" y="3794760"/>
            <a:ext cx="2793872" cy="1700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Issues Faced &amp; Solutions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792224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35024" y="18013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cold-start timeouts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35915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serverless DB auto-pauses; the first request timed out. Fixed by raising the connection timeout and retrying — and we pre-warm the app before demos.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554480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1792224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86016" y="18013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blocked on the live site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55664" y="235915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headers (CSP) blocked Microsoft login. Fixed by allowing the Entra endpoints (login.microsoftonline.com) in the policy.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" y="4014216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35024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 failed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4581144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top-level await broke the production build. Fixed by restructuring the MSAL startup so it initialises before render.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776472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4014216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86016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a private database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55664" y="4581144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DB locked to a private endpoint, our changing home IP made local access fiddly. We used a temporary dev rule while building; the deployed app uses the private endpoint.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Used 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Used AI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/ UI code scaffolding and styling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code, refactors and troubleshooting guidance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documentation and assembling this deck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55448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211F2C"/>
          </a:solidFill>
          <a:ln w="12700">
            <a:solidFill>
              <a:srgbClr val="342F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Did NOT use AI for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diagram — hand-drawn, as the course requires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Azure configuration: every networking, security and deployment step was performed by us on the live portal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Budget Projection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002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783080"/>
            <a:ext cx="5513832" cy="502920"/>
          </a:xfrm>
          <a:prstGeom prst="rect">
            <a:avLst/>
          </a:prstGeom>
          <a:solidFill>
            <a:srgbClr val="211F2C"/>
          </a:solidFill>
          <a:ln w="12700">
            <a:solidFill>
              <a:srgbClr val="211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91072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 (Basic B1, Linux)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33272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$13.14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91072" y="2286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 (Private Link)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33272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~$7.30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2788920"/>
            <a:ext cx="5513832" cy="502920"/>
          </a:xfrm>
          <a:prstGeom prst="rect">
            <a:avLst/>
          </a:prstGeom>
          <a:solidFill>
            <a:srgbClr val="211F2C"/>
          </a:solidFill>
          <a:ln w="12700">
            <a:solidFill>
              <a:srgbClr val="211F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2788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— storage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332720" y="2788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91072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— compute (serverless)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33272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$0–20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3794760"/>
            <a:ext cx="5513832" cy="502920"/>
          </a:xfrm>
          <a:prstGeom prst="rect">
            <a:avLst/>
          </a:prstGeom>
          <a:solidFill>
            <a:srgbClr val="211F2C"/>
          </a:solidFill>
          <a:ln w="12700">
            <a:solidFill>
              <a:srgbClr val="211F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3794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DNS zone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33272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~$0.50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91072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· App Insights · VNet · Entra ID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33272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 (free)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126480" y="4983480"/>
            <a:ext cx="5513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from the Azure Pricing Calculator. The serverless database costs ~$0 when idle; show actual spend in Cost Management → Cost analysis.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— 1 of 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18288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Dimple Vincia Selet Rajendrakumar Roopa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Matriculation:  37113279</a:t>
            </a:r>
            <a:pPr indent="0" marL="0">
              <a:buNone/>
            </a:pPr>
            <a:r>
              <a:rPr lang="en-US" sz="13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30175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 &amp; compute: built the React (Vite) single-page app and the Express REST API.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the app to Azure App Service and configured the managed identity.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the deployment pipeline and the live build.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303520"/>
            <a:ext cx="1338682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303520"/>
            <a:ext cx="1338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26234" y="5303520"/>
            <a:ext cx="1254557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326234" y="5303520"/>
            <a:ext cx="1254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5382" y="5303520"/>
            <a:ext cx="1254557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45382" y="5303520"/>
            <a:ext cx="1254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4531" y="530352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164531" y="5303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— 2 of 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18288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Gayathri Narayanan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Matriculation:  32638539</a:t>
            </a:r>
            <a:pPr indent="0" marL="0">
              <a:buNone/>
            </a:pPr>
            <a:r>
              <a:rPr lang="en-US" sz="13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30175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designed the Azure SQL schema and seeded the sample data.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data-access layer and the SQL queries.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the private endpoint for the database.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303520"/>
            <a:ext cx="1086307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303520"/>
            <a:ext cx="1086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73859" y="5303520"/>
            <a:ext cx="1422806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73859" y="5303520"/>
            <a:ext cx="1422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61258" y="5303520"/>
            <a:ext cx="1675181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61258" y="5303520"/>
            <a:ext cx="16751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01030" y="530352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501030" y="53035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— 3 of 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18288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Kamalika Bharathi Kannan Umamaheshwari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Matriculation:  52931479</a:t>
            </a:r>
            <a:pPr indent="0" marL="0">
              <a:buNone/>
            </a:pPr>
            <a:r>
              <a:rPr lang="en-US" sz="13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30175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Networking: designed the VNet and the snet-web / snet-data subnets.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the NSG firewall rules (443 inbound, 1433 internal only).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App Service VNet integration.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303520"/>
            <a:ext cx="1506931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303520"/>
            <a:ext cx="1506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+ subnets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94483" y="5303520"/>
            <a:ext cx="1086307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494483" y="5303520"/>
            <a:ext cx="1086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NSG 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5382" y="5303520"/>
            <a:ext cx="1675181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45382" y="5303520"/>
            <a:ext cx="16751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 — 4 of 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18288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Maharsh Ashish Shah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6324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Matriculation:  88301364</a:t>
            </a:r>
            <a:pPr indent="0" marL="0">
              <a:buNone/>
            </a:pPr>
            <a:r>
              <a:rPr lang="en-US" sz="13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30175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identity: Microsoft Entra ID app registrations and app roles.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 and Application Insights monitoring.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estimate and project documentation.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303520"/>
            <a:ext cx="1002182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5303520"/>
            <a:ext cx="1002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89734" y="5303520"/>
            <a:ext cx="1086307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89734" y="5303520"/>
            <a:ext cx="10863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0634" y="5303520"/>
            <a:ext cx="1338682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40634" y="5303520"/>
            <a:ext cx="1338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43907" y="5303520"/>
            <a:ext cx="833933" cy="365760"/>
          </a:xfrm>
          <a:prstGeom prst="roundRect">
            <a:avLst>
              <a:gd name="adj" fmla="val 50000"/>
            </a:avLst>
          </a:prstGeom>
          <a:solidFill>
            <a:srgbClr val="211F2C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43907" y="5303520"/>
            <a:ext cx="8339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194560"/>
            <a:ext cx="4389120" cy="438912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457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Summary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secure, multi-tier Azure deployment that is genuinely live.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Passwordless managed identity and a private database — security built in, not bolted 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sign-in with role-based access done properly.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45352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 &amp; next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45352" y="20116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App Service instance (no autoscale / Front Door) to stay simple and cheap.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database (small cold-start) chosen over an always-on tier.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deployment this time — next time, Terraform (IaC) and a CI/CD pipeline, plus SMS / email reminders.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0" y="640080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937760" cy="493776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011680"/>
            <a:ext cx="4754880" cy="475488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43016" y="2148840"/>
            <a:ext cx="50292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we're happy to take questions.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https://app-healthappt-gn-axhhfvhbdxerbphw.westeurope-01.azurewebsites.net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Dimple Vincia Selet Rajendrakumar Roopa  ·  Gayathri Narayanan  ·  Kamalika Bharathi Kannan Umamaheshwari  ·  Maharsh Ashish Shah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Healthcare Appointment System on Azure</dc:title>
  <dc:subject>PptxGenJS Presentation</dc:subject>
  <dc:creator>Healthcare on Azure team</dc:creator>
  <cp:lastModifiedBy>Healthcare on Azure team</cp:lastModifiedBy>
  <cp:revision>1</cp:revision>
  <dcterms:created xsi:type="dcterms:W3CDTF">2026-06-27T22:47:40Z</dcterms:created>
  <dcterms:modified xsi:type="dcterms:W3CDTF">2026-06-27T22:47:40Z</dcterms:modified>
</cp:coreProperties>
</file>